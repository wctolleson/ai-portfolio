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My project looks at artificial intelligence adoption in construction management, with a specific focus on aviation capital program delivery. I wanted to compare how the same technology looks from three different sides of the industry: the airport owner, the consultant or PM/CM advisor, and the general contractor. The research question is: how are aviation-infrastructure organizations adopting AI, what barriers are slowing implementation, and what practices make adoption more likely to create measurable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Aviation capital programs are a strong setting for this topic because they are complex and highly coordinated. Airport projects involve owners, airlines, TSA, FAA, designers, contractors, concessionaires, local government, and the traveling public. PM/CM teams spend a large amount of time managing information: meeting notes, submittals, schedules, cost reports, dashboards, safety documentation, and stakeholder communication. AI has real potential here, but it also introduces risk because airport environments are security-sensitive and operationally critical.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combines a literature review with four semi-structured interviews. The interview group was intentionally multi-stakeholder. On the owner side, I spoke with Charlotte Douglas International Airport leaders involved in innovation, IT governance, and business intelligence. On the consultant side, I interviewed Keith Davidge from TYLin and the Global Infrastructure AI Working Group. On the contractor side, I interviewed Nick Christoffersen with JE Dunn, an aviation construction leader. I coded the interviews around current AI use cases, adoption drivers, barriers, governance and security, data readiness, and expected future impacts.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major finding is that adoption is real, but still immature. None of the organizations described AI as theoretical, but none described a fully mature operating model either. JE Dunn described its current stage as still early, but with strong leadership support. TYLin has a more formal structure, including working groups, approved platforms, and power users. CLT is already using AI-enabled tools in areas like passenger flow, biometrics, reporting, and business intelligence, but governance is still developing.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use cases were not broad claims about AI replacing construction managers. They were practical workflow improvements. JE Dunn is using tools like Microsoft Copilot, OpenSpace, Smart Tag It, and Planner-supported workflows to summarize information, compare schedules and drawings, support quality plans, and review safety documentation. CLT described passenger-flow forecasting, biometric processing, and dashboard automation. TYLin described internal AI tools, proposal and marketing support, coding productivity, and machine learning where the data is clean.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owner perspective, AI adoption is cautious and practical. CLT is responsible for passenger experience, operational continuity, cybersecurity, public-sector procurement, and coordination with many aviation stakeholders. That means AI has to be governable. The CLT interviews emphasized that security and data governance are not secondary issues; they are go/no-go issues. A useful owner-side lesson is that AI should start with a real operating problem, such as checkpoint flow, reporting, or passenger movement, rather than starting with a product and trying to force it into the airport.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consultant perspective, AI is also a competitiveness issue. Keith Davidge framed AI as changing the nature of professional work, not simply adding another software tool. For consultants and PM/CM firms, AI can reduce time spent moving information from one format to another and create more time for client-facing judgment, risk management, and advisory services. TYLin’s experience also shows that adoption cannot be only top-down. Power users and champions matter because the person doing the work often understands the best opportunities for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contractor perspective was very execution-oriented. JE Dunn’s focus is not abstract AI strategy; it is whether a tool helps busy project teams. Examples included schedule and drawing checks, daily and email summaries, quality-control planning, and AI-supported review of JSA meetings for missed safety topics. Nick Christoffersen was clear that AI is not replacing people and that AI cannot build buildings. But it can act like an extra set of eyes, helping teams prepare better, document better, and identify issues sooner.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all interviews, the biggest barrier was not lack of interest. The barriers were data readiness, governance, security, system integration, and change management. AI depends on clean data and context. In aviation, it also depends on cybersecurity, public trust, and vendor transparency. Contractors and consultants face similar concerns when tools need access to sensitive project or company files. My recommendations are to start small with high-friction workflows, establish practical governance early, invest in data quality and semantic layers, use champions instead of assuming access equals adoption, and keep human review mandatory for cost, schedule, safety, contract, and claims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takeaway is that AI adoption in construction management is not about replacing project professionals. It is becoming a PM/CM capability. In aviation capital delivery, the near-term value is faster review, better documentation, earlier forecasting, stronger safety and quality support, and more time for judgment-heavy work. The organizations most likely to benefit are not the ones chasing the most impressive AI demo. They are the ones that combine clean data, practical governance, human accountability, and targeted workflow adoption.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20040"/>
          </a:xfrm>
          <a:prstGeom prst="rect">
            <a:avLst/>
          </a:prstGeom>
          <a:noFill/>
        </p:spPr>
        <p:txBody>
          <a:bodyPr wrap="none">
            <a:spAutoFit/>
          </a:bodyPr>
          <a:lstStyle/>
          <a:p>
            <a:pPr algn="ctr">
              <a:defRPr sz="1500" b="1">
                <a:solidFill>
                  <a:srgbClr val="FFFFFF"/>
                </a:solidFill>
              </a:defRPr>
            </a:pPr>
            <a:r>
              <a:t>CMET 6000 FINAL PROJECT</a:t>
            </a:r>
          </a:p>
        </p:txBody>
      </p:sp>
      <p:sp>
        <p:nvSpPr>
          <p:cNvPr id="4" name="TextBox 3"/>
          <p:cNvSpPr txBox="1"/>
          <p:nvPr/>
        </p:nvSpPr>
        <p:spPr>
          <a:xfrm>
            <a:off x="822960" y="1828800"/>
            <a:ext cx="10515600" cy="1463040"/>
          </a:xfrm>
          <a:prstGeom prst="rect">
            <a:avLst/>
          </a:prstGeom>
          <a:noFill/>
        </p:spPr>
        <p:txBody>
          <a:bodyPr wrap="square">
            <a:spAutoFit/>
          </a:bodyPr>
          <a:lstStyle/>
          <a:p>
            <a:pPr algn="ctr">
              <a:defRPr sz="3800" b="1">
                <a:solidFill>
                  <a:srgbClr val="1A5F7A"/>
                </a:solidFill>
              </a:defRPr>
            </a:pPr>
            <a:r>
              <a:t>Artificial Intelligence Adoption in Aviation Capital Program Delivery</a:t>
            </a:r>
          </a:p>
        </p:txBody>
      </p:sp>
      <p:sp>
        <p:nvSpPr>
          <p:cNvPr id="5" name="TextBox 4"/>
          <p:cNvSpPr txBox="1"/>
          <p:nvPr/>
        </p:nvSpPr>
        <p:spPr>
          <a:xfrm>
            <a:off x="1097280" y="3703320"/>
            <a:ext cx="9966960" cy="1005840"/>
          </a:xfrm>
          <a:prstGeom prst="rect">
            <a:avLst/>
          </a:prstGeom>
          <a:noFill/>
        </p:spPr>
        <p:txBody>
          <a:bodyPr wrap="none">
            <a:spAutoFit/>
          </a:bodyPr>
          <a:lstStyle/>
          <a:p>
            <a:pPr algn="ctr">
              <a:defRPr sz="2000">
                <a:solidFill>
                  <a:srgbClr val="636E72"/>
                </a:solidFill>
              </a:defRPr>
            </a:pPr>
            <a:r>
              <a:t>Contractor, owner, and consultant perspectives</a:t>
            </a:r>
            <a:br/>
            <a:r>
              <a:t>CMET 6000 Final Project • Chris Tolleson • Spring 2026</a:t>
            </a:r>
          </a:p>
        </p:txBody>
      </p:sp>
      <p:sp>
        <p:nvSpPr>
          <p:cNvPr id="6" name="Rounded Rectangle 5"/>
          <p:cNvSpPr/>
          <p:nvPr/>
        </p:nvSpPr>
        <p:spPr>
          <a:xfrm>
            <a:off x="2103120" y="5166360"/>
            <a:ext cx="2103120" cy="502920"/>
          </a:xfrm>
          <a:prstGeom prst="roundRect">
            <a:avLst/>
          </a:prstGeom>
          <a:solidFill>
            <a:srgbClr val="3570A8"/>
          </a:solidFill>
          <a:ln>
            <a:solidFill>
              <a:srgbClr val="357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OWNER</a:t>
            </a:r>
          </a:p>
        </p:txBody>
      </p:sp>
      <p:sp>
        <p:nvSpPr>
          <p:cNvPr id="7" name="Rounded Rectangle 6"/>
          <p:cNvSpPr/>
          <p:nvPr/>
        </p:nvSpPr>
        <p:spPr>
          <a:xfrm>
            <a:off x="5074920" y="5166360"/>
            <a:ext cx="2103120" cy="502920"/>
          </a:xfrm>
          <a:prstGeom prst="roundRect">
            <a:avLst/>
          </a:prstGeom>
          <a:solidFill>
            <a:srgbClr val="57A773"/>
          </a:solidFill>
          <a:ln>
            <a:solidFill>
              <a:srgbClr val="57A7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PM/CM CONSULTANT</a:t>
            </a:r>
          </a:p>
        </p:txBody>
      </p:sp>
      <p:sp>
        <p:nvSpPr>
          <p:cNvPr id="8" name="Rounded Rectangle 7"/>
          <p:cNvSpPr/>
          <p:nvPr/>
        </p:nvSpPr>
        <p:spPr>
          <a:xfrm>
            <a:off x="8046720" y="5166360"/>
            <a:ext cx="2103120" cy="502920"/>
          </a:xfrm>
          <a:prstGeom prst="roundRect">
            <a:avLst/>
          </a:prstGeom>
          <a:solidFill>
            <a:srgbClr val="E08943"/>
          </a:solidFill>
          <a:ln>
            <a:solidFill>
              <a:srgbClr val="E08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CONTRACTOR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Why This Matters in Aviation PM/CM</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Aviation programs are complex, phased, and stakeholder-heavy</a:t>
            </a:r>
          </a:p>
          <a:p>
            <a:pPr>
              <a:spcAft>
                <a:spcPts val="900"/>
              </a:spcAft>
              <a:defRPr sz="2000">
                <a:solidFill>
                  <a:srgbClr val="2D3436"/>
                </a:solidFill>
              </a:defRPr>
            </a:pPr>
            <a:r>
              <a:t>• PM/CM teams manage huge volumes of documents, data, meetings, and decisions</a:t>
            </a:r>
          </a:p>
          <a:p>
            <a:pPr>
              <a:spcAft>
                <a:spcPts val="900"/>
              </a:spcAft>
              <a:defRPr sz="2000">
                <a:solidFill>
                  <a:srgbClr val="2D3436"/>
                </a:solidFill>
              </a:defRPr>
            </a:pPr>
            <a:r>
              <a:t>• AI is moving from curiosity into daily workflows</a:t>
            </a:r>
          </a:p>
          <a:p>
            <a:pPr>
              <a:spcAft>
                <a:spcPts val="900"/>
              </a:spcAft>
              <a:defRPr sz="2000">
                <a:solidFill>
                  <a:srgbClr val="2D3436"/>
                </a:solidFill>
              </a:defRPr>
            </a:pPr>
            <a:r>
              <a:t>• The question is no longer “Will AI matter?” but “How do we govern and use it well?”</a:t>
            </a:r>
          </a:p>
        </p:txBody>
      </p:sp>
      <p:sp>
        <p:nvSpPr>
          <p:cNvPr id="5" name="Rounded Rectangle 4"/>
          <p:cNvSpPr/>
          <p:nvPr/>
        </p:nvSpPr>
        <p:spPr>
          <a:xfrm>
            <a:off x="8229600" y="1828800"/>
            <a:ext cx="3246120" cy="2514600"/>
          </a:xfrm>
          <a:prstGeom prst="roundRect">
            <a:avLst/>
          </a:prstGeom>
          <a:solidFill>
            <a:srgbClr val="F8F9F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1A5F7A"/>
                </a:solidFill>
              </a:defRPr>
            </a:pPr>
            <a:r>
              <a:t>AI value depends on controlled adoption in real workflows.</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Method: Literature + Four Interviews</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Literature review on AI in construction management and adoption frameworks</a:t>
            </a:r>
          </a:p>
          <a:p>
            <a:pPr>
              <a:spcAft>
                <a:spcPts val="900"/>
              </a:spcAft>
              <a:defRPr sz="2000">
                <a:solidFill>
                  <a:srgbClr val="2D3436"/>
                </a:solidFill>
              </a:defRPr>
            </a:pPr>
            <a:r>
              <a:t>• Four semi-structured interviews across aviation and construction roles</a:t>
            </a:r>
          </a:p>
          <a:p>
            <a:pPr>
              <a:spcAft>
                <a:spcPts val="900"/>
              </a:spcAft>
              <a:defRPr sz="2000">
                <a:solidFill>
                  <a:srgbClr val="2D3436"/>
                </a:solidFill>
              </a:defRPr>
            </a:pPr>
            <a:r>
              <a:t>• Owner/operator: CLT Innovation, IT, and BI leaders</a:t>
            </a:r>
          </a:p>
          <a:p>
            <a:pPr>
              <a:spcAft>
                <a:spcPts val="900"/>
              </a:spcAft>
              <a:defRPr sz="2000">
                <a:solidFill>
                  <a:srgbClr val="2D3436"/>
                </a:solidFill>
              </a:defRPr>
            </a:pPr>
            <a:r>
              <a:t>• Consultant: TYLin / Global Infrastructure AI Working Group</a:t>
            </a:r>
          </a:p>
          <a:p>
            <a:pPr>
              <a:spcAft>
                <a:spcPts val="900"/>
              </a:spcAft>
              <a:defRPr sz="2000">
                <a:solidFill>
                  <a:srgbClr val="2D3436"/>
                </a:solidFill>
              </a:defRPr>
            </a:pPr>
            <a:r>
              <a:t>• Contractor: JE Dunn aviation construction leader</a:t>
            </a:r>
          </a:p>
          <a:p>
            <a:pPr>
              <a:spcAft>
                <a:spcPts val="900"/>
              </a:spcAft>
              <a:defRPr sz="2000">
                <a:solidFill>
                  <a:srgbClr val="2D3436"/>
                </a:solidFill>
              </a:defRPr>
            </a:pPr>
            <a:r>
              <a:t>• Analysis focused on use cases, barriers, governance, and future impacts</a:t>
            </a:r>
          </a:p>
        </p:txBody>
      </p:sp>
      <p:sp>
        <p:nvSpPr>
          <p:cNvPr id="5" name="TextBox 4"/>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Finding 1: Adoption Is Active, But Still Immature</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AI is already being tested and used across all three stakeholder groups</a:t>
            </a:r>
          </a:p>
          <a:p>
            <a:pPr>
              <a:spcAft>
                <a:spcPts val="900"/>
              </a:spcAft>
              <a:defRPr sz="2000">
                <a:solidFill>
                  <a:srgbClr val="2D3436"/>
                </a:solidFill>
              </a:defRPr>
            </a:pPr>
            <a:r>
              <a:t>• Maturity is uneven: pilots, approved tools, and emerging governance</a:t>
            </a:r>
          </a:p>
          <a:p>
            <a:pPr>
              <a:spcAft>
                <a:spcPts val="900"/>
              </a:spcAft>
              <a:defRPr sz="2000">
                <a:solidFill>
                  <a:srgbClr val="2D3436"/>
                </a:solidFill>
              </a:defRPr>
            </a:pPr>
            <a:r>
              <a:t>• Most organizations are past curiosity but not at full enterprise integration</a:t>
            </a:r>
          </a:p>
          <a:p>
            <a:pPr>
              <a:spcAft>
                <a:spcPts val="900"/>
              </a:spcAft>
              <a:defRPr sz="2000">
                <a:solidFill>
                  <a:srgbClr val="2D3436"/>
                </a:solidFill>
              </a:defRPr>
            </a:pPr>
            <a:r>
              <a:t>• Strategy needs to be iterative, not fixed</a:t>
            </a:r>
          </a:p>
        </p:txBody>
      </p:sp>
      <p:sp>
        <p:nvSpPr>
          <p:cNvPr id="5" name="Rounded Rectangle 4"/>
          <p:cNvSpPr/>
          <p:nvPr/>
        </p:nvSpPr>
        <p:spPr>
          <a:xfrm>
            <a:off x="8229600" y="1828800"/>
            <a:ext cx="3246120" cy="2514600"/>
          </a:xfrm>
          <a:prstGeom prst="roundRect">
            <a:avLst/>
          </a:prstGeom>
          <a:solidFill>
            <a:srgbClr val="F8F9F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1A5F7A"/>
                </a:solidFill>
              </a:defRPr>
            </a:pPr>
            <a:r>
              <a:t>Past curiosity. Not yet fully mature.</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Finding 2: Practical Workflows Are Winning</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Highest-value use cases are narrow and measurable</a:t>
            </a:r>
          </a:p>
          <a:p>
            <a:pPr>
              <a:spcAft>
                <a:spcPts val="900"/>
              </a:spcAft>
              <a:defRPr sz="2000">
                <a:solidFill>
                  <a:srgbClr val="2D3436"/>
                </a:solidFill>
              </a:defRPr>
            </a:pPr>
            <a:r>
              <a:t>• Meeting and email summaries</a:t>
            </a:r>
          </a:p>
          <a:p>
            <a:pPr>
              <a:spcAft>
                <a:spcPts val="900"/>
              </a:spcAft>
              <a:defRPr sz="2000">
                <a:solidFill>
                  <a:srgbClr val="2D3436"/>
                </a:solidFill>
              </a:defRPr>
            </a:pPr>
            <a:r>
              <a:t>• Schedule / drawing comparison</a:t>
            </a:r>
          </a:p>
          <a:p>
            <a:pPr>
              <a:spcAft>
                <a:spcPts val="900"/>
              </a:spcAft>
              <a:defRPr sz="2000">
                <a:solidFill>
                  <a:srgbClr val="2D3436"/>
                </a:solidFill>
              </a:defRPr>
            </a:pPr>
            <a:r>
              <a:t>• QC plan generation from specifications</a:t>
            </a:r>
          </a:p>
          <a:p>
            <a:pPr>
              <a:spcAft>
                <a:spcPts val="900"/>
              </a:spcAft>
              <a:defRPr sz="2000">
                <a:solidFill>
                  <a:srgbClr val="2D3436"/>
                </a:solidFill>
              </a:defRPr>
            </a:pPr>
            <a:r>
              <a:t>• JSA and safety review</a:t>
            </a:r>
          </a:p>
          <a:p>
            <a:pPr>
              <a:spcAft>
                <a:spcPts val="900"/>
              </a:spcAft>
              <a:defRPr sz="2000">
                <a:solidFill>
                  <a:srgbClr val="2D3436"/>
                </a:solidFill>
              </a:defRPr>
            </a:pPr>
            <a:r>
              <a:t>• Passenger-flow forecasting and dashboards</a:t>
            </a:r>
          </a:p>
        </p:txBody>
      </p:sp>
      <p:sp>
        <p:nvSpPr>
          <p:cNvPr id="5" name="Rounded Rectangle 4"/>
          <p:cNvSpPr/>
          <p:nvPr/>
        </p:nvSpPr>
        <p:spPr>
          <a:xfrm>
            <a:off x="8229600" y="1828800"/>
            <a:ext cx="3246120" cy="2514600"/>
          </a:xfrm>
          <a:prstGeom prst="roundRect">
            <a:avLst/>
          </a:prstGeom>
          <a:solidFill>
            <a:srgbClr val="F8F9F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1A5F7A"/>
                </a:solidFill>
              </a:defRPr>
            </a:pPr>
            <a:r>
              <a:t>AI is compressing administrative and review time.</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570A8"/>
          </a:solidFill>
          <a:ln>
            <a:solidFill>
              <a:srgbClr val="357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Owner Perspective: Governable Value for Operations</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Security and public trust</a:t>
            </a:r>
          </a:p>
          <a:p>
            <a:pPr>
              <a:spcAft>
                <a:spcPts val="900"/>
              </a:spcAft>
              <a:defRPr sz="2000">
                <a:solidFill>
                  <a:srgbClr val="2D3436"/>
                </a:solidFill>
              </a:defRPr>
            </a:pPr>
            <a:r>
              <a:t>• Operational reliability</a:t>
            </a:r>
          </a:p>
          <a:p>
            <a:pPr>
              <a:spcAft>
                <a:spcPts val="900"/>
              </a:spcAft>
              <a:defRPr sz="2000">
                <a:solidFill>
                  <a:srgbClr val="2D3436"/>
                </a:solidFill>
              </a:defRPr>
            </a:pPr>
            <a:r>
              <a:t>• Passenger experience</a:t>
            </a:r>
          </a:p>
          <a:p>
            <a:pPr>
              <a:spcAft>
                <a:spcPts val="900"/>
              </a:spcAft>
              <a:defRPr sz="2000">
                <a:solidFill>
                  <a:srgbClr val="2D3436"/>
                </a:solidFill>
              </a:defRPr>
            </a:pPr>
            <a:r>
              <a:t>• Procurement and vendor transparency</a:t>
            </a:r>
          </a:p>
          <a:p>
            <a:pPr>
              <a:spcAft>
                <a:spcPts val="900"/>
              </a:spcAft>
              <a:defRPr sz="2000">
                <a:solidFill>
                  <a:srgbClr val="2D3436"/>
                </a:solidFill>
              </a:defRPr>
            </a:pPr>
            <a:r>
              <a:t>• Integration with airport systems</a:t>
            </a:r>
          </a:p>
        </p:txBody>
      </p:sp>
      <p:sp>
        <p:nvSpPr>
          <p:cNvPr id="5" name="Rounded Rectangle 4"/>
          <p:cNvSpPr/>
          <p:nvPr/>
        </p:nvSpPr>
        <p:spPr>
          <a:xfrm>
            <a:off x="8229600" y="1828800"/>
            <a:ext cx="3246120" cy="2514600"/>
          </a:xfrm>
          <a:prstGeom prst="roundRect">
            <a:avLst/>
          </a:prstGeom>
          <a:solidFill>
            <a:srgbClr val="F8F9FA"/>
          </a:solidFill>
          <a:ln>
            <a:solidFill>
              <a:srgbClr val="3570A8"/>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3570A8"/>
                </a:solidFill>
              </a:defRPr>
            </a:pPr>
            <a:r>
              <a:t>AI must solve real problems, not just be “AI-branded.”</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57A773"/>
          </a:solidFill>
          <a:ln>
            <a:solidFill>
              <a:srgbClr val="57A7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Consultant Perspective: AI as a PM/CM Capability</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Avoid commoditized services</a:t>
            </a:r>
          </a:p>
          <a:p>
            <a:pPr>
              <a:spcAft>
                <a:spcPts val="900"/>
              </a:spcAft>
              <a:defRPr sz="2000">
                <a:solidFill>
                  <a:srgbClr val="2D3436"/>
                </a:solidFill>
              </a:defRPr>
            </a:pPr>
            <a:r>
              <a:t>• Build internal AI literacy and power-user networks</a:t>
            </a:r>
          </a:p>
          <a:p>
            <a:pPr>
              <a:spcAft>
                <a:spcPts val="900"/>
              </a:spcAft>
              <a:defRPr sz="2000">
                <a:solidFill>
                  <a:srgbClr val="2D3436"/>
                </a:solidFill>
              </a:defRPr>
            </a:pPr>
            <a:r>
              <a:t>• Improve speed without losing professional judgment</a:t>
            </a:r>
          </a:p>
          <a:p>
            <a:pPr>
              <a:spcAft>
                <a:spcPts val="900"/>
              </a:spcAft>
              <a:defRPr sz="2000">
                <a:solidFill>
                  <a:srgbClr val="2D3436"/>
                </a:solidFill>
              </a:defRPr>
            </a:pPr>
            <a:r>
              <a:t>• Turn data and workflows into higher-value advisory services</a:t>
            </a:r>
          </a:p>
        </p:txBody>
      </p:sp>
      <p:sp>
        <p:nvSpPr>
          <p:cNvPr id="5" name="Rounded Rectangle 4"/>
          <p:cNvSpPr/>
          <p:nvPr/>
        </p:nvSpPr>
        <p:spPr>
          <a:xfrm>
            <a:off x="8229600" y="1828800"/>
            <a:ext cx="3246120" cy="2514600"/>
          </a:xfrm>
          <a:prstGeom prst="roundRect">
            <a:avLst/>
          </a:prstGeom>
          <a:solidFill>
            <a:srgbClr val="F8F9FA"/>
          </a:solidFill>
          <a:ln>
            <a:solidFill>
              <a:srgbClr val="57A773"/>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57A773"/>
                </a:solidFill>
              </a:defRPr>
            </a:pPr>
            <a:r>
              <a:t>AI changes the work itself, not just the tools.</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08943"/>
          </a:solidFill>
          <a:ln>
            <a:solidFill>
              <a:srgbClr val="E08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Contractor Perspective: Field Execution, Safety, and Quality</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Reduce administrative burden on project teams</a:t>
            </a:r>
          </a:p>
          <a:p>
            <a:pPr>
              <a:spcAft>
                <a:spcPts val="900"/>
              </a:spcAft>
              <a:defRPr sz="2000">
                <a:solidFill>
                  <a:srgbClr val="2D3436"/>
                </a:solidFill>
              </a:defRPr>
            </a:pPr>
            <a:r>
              <a:t>• Improve safety and quality planning</a:t>
            </a:r>
          </a:p>
          <a:p>
            <a:pPr>
              <a:spcAft>
                <a:spcPts val="900"/>
              </a:spcAft>
              <a:defRPr sz="2000">
                <a:solidFill>
                  <a:srgbClr val="2D3436"/>
                </a:solidFill>
              </a:defRPr>
            </a:pPr>
            <a:r>
              <a:t>• Catch issues earlier in documents and schedules</a:t>
            </a:r>
          </a:p>
          <a:p>
            <a:pPr>
              <a:spcAft>
                <a:spcPts val="900"/>
              </a:spcAft>
              <a:defRPr sz="2000">
                <a:solidFill>
                  <a:srgbClr val="2D3436"/>
                </a:solidFill>
              </a:defRPr>
            </a:pPr>
            <a:r>
              <a:t>• Support daily reporting and field coordination</a:t>
            </a:r>
          </a:p>
        </p:txBody>
      </p:sp>
      <p:sp>
        <p:nvSpPr>
          <p:cNvPr id="5" name="Rounded Rectangle 4"/>
          <p:cNvSpPr/>
          <p:nvPr/>
        </p:nvSpPr>
        <p:spPr>
          <a:xfrm>
            <a:off x="8229600" y="1828800"/>
            <a:ext cx="3246120" cy="2514600"/>
          </a:xfrm>
          <a:prstGeom prst="roundRect">
            <a:avLst/>
          </a:prstGeom>
          <a:solidFill>
            <a:srgbClr val="F8F9FA"/>
          </a:solidFill>
          <a:ln>
            <a:solidFill>
              <a:srgbClr val="E08943"/>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E08943"/>
                </a:solidFill>
              </a:defRPr>
            </a:pPr>
            <a:r>
              <a:t>“AI can’t build buildings,” but it can help teams see problems sooner.</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Barriers and Recommendations</a:t>
            </a:r>
          </a:p>
        </p:txBody>
      </p:sp>
      <p:sp>
        <p:nvSpPr>
          <p:cNvPr id="4" name="Rounded Rectangle 3"/>
          <p:cNvSpPr/>
          <p:nvPr/>
        </p:nvSpPr>
        <p:spPr>
          <a:xfrm>
            <a:off x="685800" y="1234440"/>
            <a:ext cx="5074920" cy="502920"/>
          </a:xfrm>
          <a:prstGeom prst="roundRect">
            <a:avLst/>
          </a:prstGeom>
          <a:solidFill>
            <a:srgbClr val="E08943"/>
          </a:solidFill>
          <a:ln>
            <a:solidFill>
              <a:srgbClr val="E08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Key barriers</a:t>
            </a:r>
          </a:p>
        </p:txBody>
      </p:sp>
      <p:sp>
        <p:nvSpPr>
          <p:cNvPr id="5" name="TextBox 4"/>
          <p:cNvSpPr txBox="1"/>
          <p:nvPr/>
        </p:nvSpPr>
        <p:spPr>
          <a:xfrm>
            <a:off x="777240" y="1920240"/>
            <a:ext cx="4892040" cy="3977639"/>
          </a:xfrm>
          <a:prstGeom prst="rect">
            <a:avLst/>
          </a:prstGeom>
          <a:noFill/>
        </p:spPr>
        <p:txBody>
          <a:bodyPr wrap="square">
            <a:spAutoFit/>
          </a:bodyPr>
          <a:lstStyle/>
          <a:p>
            <a:pPr>
              <a:spcAft>
                <a:spcPts val="1000"/>
              </a:spcAft>
              <a:defRPr sz="2000">
                <a:solidFill>
                  <a:srgbClr val="2D3436"/>
                </a:solidFill>
              </a:defRPr>
            </a:pPr>
            <a:r>
              <a:t>• Data quality and semantic context</a:t>
            </a:r>
          </a:p>
          <a:p>
            <a:pPr>
              <a:spcAft>
                <a:spcPts val="1000"/>
              </a:spcAft>
              <a:defRPr sz="2000">
                <a:solidFill>
                  <a:srgbClr val="2D3436"/>
                </a:solidFill>
              </a:defRPr>
            </a:pPr>
            <a:r>
              <a:t>• Cybersecurity and third-party file access</a:t>
            </a:r>
          </a:p>
          <a:p>
            <a:pPr>
              <a:spcAft>
                <a:spcPts val="1000"/>
              </a:spcAft>
              <a:defRPr sz="2000">
                <a:solidFill>
                  <a:srgbClr val="2D3436"/>
                </a:solidFill>
              </a:defRPr>
            </a:pPr>
            <a:r>
              <a:t>• Legacy systems and integration gaps</a:t>
            </a:r>
          </a:p>
          <a:p>
            <a:pPr>
              <a:spcAft>
                <a:spcPts val="1000"/>
              </a:spcAft>
              <a:defRPr sz="2000">
                <a:solidFill>
                  <a:srgbClr val="2D3436"/>
                </a:solidFill>
              </a:defRPr>
            </a:pPr>
            <a:r>
              <a:t>• Hidden maintenance and training costs</a:t>
            </a:r>
          </a:p>
          <a:p>
            <a:pPr>
              <a:spcAft>
                <a:spcPts val="1000"/>
              </a:spcAft>
              <a:defRPr sz="2000">
                <a:solidFill>
                  <a:srgbClr val="2D3436"/>
                </a:solidFill>
              </a:defRPr>
            </a:pPr>
            <a:r>
              <a:t>• Change management</a:t>
            </a:r>
          </a:p>
        </p:txBody>
      </p:sp>
      <p:sp>
        <p:nvSpPr>
          <p:cNvPr id="6" name="Rounded Rectangle 5"/>
          <p:cNvSpPr/>
          <p:nvPr/>
        </p:nvSpPr>
        <p:spPr>
          <a:xfrm>
            <a:off x="6263640" y="1234440"/>
            <a:ext cx="5074920" cy="502920"/>
          </a:xfrm>
          <a:prstGeom prst="roundRect">
            <a:avLst/>
          </a:prstGeom>
          <a:solidFill>
            <a:srgbClr val="57A773"/>
          </a:solidFill>
          <a:ln>
            <a:solidFill>
              <a:srgbClr val="57A7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Recommendations</a:t>
            </a:r>
          </a:p>
        </p:txBody>
      </p:sp>
      <p:sp>
        <p:nvSpPr>
          <p:cNvPr id="7" name="TextBox 6"/>
          <p:cNvSpPr txBox="1"/>
          <p:nvPr/>
        </p:nvSpPr>
        <p:spPr>
          <a:xfrm>
            <a:off x="6355079" y="1920240"/>
            <a:ext cx="4892040" cy="3977639"/>
          </a:xfrm>
          <a:prstGeom prst="rect">
            <a:avLst/>
          </a:prstGeom>
          <a:noFill/>
        </p:spPr>
        <p:txBody>
          <a:bodyPr wrap="square">
            <a:spAutoFit/>
          </a:bodyPr>
          <a:lstStyle/>
          <a:p>
            <a:pPr>
              <a:spcAft>
                <a:spcPts val="1000"/>
              </a:spcAft>
              <a:defRPr sz="2000">
                <a:solidFill>
                  <a:srgbClr val="2D3436"/>
                </a:solidFill>
              </a:defRPr>
            </a:pPr>
            <a:r>
              <a:t>• Start with clear use cases</a:t>
            </a:r>
          </a:p>
          <a:p>
            <a:pPr>
              <a:spcAft>
                <a:spcPts val="1000"/>
              </a:spcAft>
              <a:defRPr sz="2000">
                <a:solidFill>
                  <a:srgbClr val="2D3436"/>
                </a:solidFill>
              </a:defRPr>
            </a:pPr>
            <a:r>
              <a:t>• Build governance early</a:t>
            </a:r>
          </a:p>
          <a:p>
            <a:pPr>
              <a:spcAft>
                <a:spcPts val="1000"/>
              </a:spcAft>
              <a:defRPr sz="2000">
                <a:solidFill>
                  <a:srgbClr val="2D3436"/>
                </a:solidFill>
              </a:defRPr>
            </a:pPr>
            <a:r>
              <a:t>• Invest in data foundations</a:t>
            </a:r>
          </a:p>
          <a:p>
            <a:pPr>
              <a:spcAft>
                <a:spcPts val="1000"/>
              </a:spcAft>
              <a:defRPr sz="2000">
                <a:solidFill>
                  <a:srgbClr val="2D3436"/>
                </a:solidFill>
              </a:defRPr>
            </a:pPr>
            <a:r>
              <a:t>• Use champions and human review</a:t>
            </a:r>
          </a:p>
          <a:p>
            <a:pPr>
              <a:spcAft>
                <a:spcPts val="1000"/>
              </a:spcAft>
              <a:defRPr sz="2000">
                <a:solidFill>
                  <a:srgbClr val="2D3436"/>
                </a:solidFill>
              </a:defRPr>
            </a:pPr>
            <a:r>
              <a:t>• Measure time saved, risk reduced, and quality improved</a:t>
            </a:r>
          </a:p>
        </p:txBody>
      </p:sp>
      <p:sp>
        <p:nvSpPr>
          <p:cNvPr id="8" name="TextBox 7"/>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A5F7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65760"/>
            <a:ext cx="10972800" cy="548640"/>
          </a:xfrm>
          <a:prstGeom prst="rect">
            <a:avLst/>
          </a:prstGeom>
          <a:noFill/>
        </p:spPr>
        <p:txBody>
          <a:bodyPr wrap="none">
            <a:spAutoFit/>
          </a:bodyPr>
          <a:lstStyle/>
          <a:p>
            <a:pPr>
              <a:defRPr sz="3000" b="1">
                <a:solidFill>
                  <a:srgbClr val="134B61"/>
                </a:solidFill>
              </a:defRPr>
            </a:pPr>
            <a:r>
              <a:t>Final Takeaway</a:t>
            </a:r>
          </a:p>
        </p:txBody>
      </p:sp>
      <p:sp>
        <p:nvSpPr>
          <p:cNvPr id="4" name="TextBox 3"/>
          <p:cNvSpPr txBox="1"/>
          <p:nvPr/>
        </p:nvSpPr>
        <p:spPr>
          <a:xfrm>
            <a:off x="868680" y="1325880"/>
            <a:ext cx="7040880" cy="4434840"/>
          </a:xfrm>
          <a:prstGeom prst="rect">
            <a:avLst/>
          </a:prstGeom>
          <a:noFill/>
        </p:spPr>
        <p:txBody>
          <a:bodyPr wrap="square">
            <a:spAutoFit/>
          </a:bodyPr>
          <a:lstStyle/>
          <a:p>
            <a:pPr>
              <a:spcAft>
                <a:spcPts val="900"/>
              </a:spcAft>
              <a:defRPr sz="2000">
                <a:solidFill>
                  <a:srgbClr val="2D3436"/>
                </a:solidFill>
              </a:defRPr>
            </a:pPr>
            <a:r>
              <a:t>• AI adoption is becoming a PM/CM capability, not just an IT initiative</a:t>
            </a:r>
          </a:p>
          <a:p>
            <a:pPr>
              <a:spcAft>
                <a:spcPts val="900"/>
              </a:spcAft>
              <a:defRPr sz="2000">
                <a:solidFill>
                  <a:srgbClr val="2D3436"/>
                </a:solidFill>
              </a:defRPr>
            </a:pPr>
            <a:r>
              <a:t>• Near-term value: faster review, better documentation, earlier forecasting, stronger decision support</a:t>
            </a:r>
          </a:p>
          <a:p>
            <a:pPr>
              <a:spcAft>
                <a:spcPts val="900"/>
              </a:spcAft>
              <a:defRPr sz="2000">
                <a:solidFill>
                  <a:srgbClr val="2D3436"/>
                </a:solidFill>
              </a:defRPr>
            </a:pPr>
            <a:r>
              <a:t>• Long-term advantage belongs to organizations that combine clean data, practical governance, human judgment, and workflow-level adoption</a:t>
            </a:r>
          </a:p>
        </p:txBody>
      </p:sp>
      <p:sp>
        <p:nvSpPr>
          <p:cNvPr id="5" name="Rounded Rectangle 4"/>
          <p:cNvSpPr/>
          <p:nvPr/>
        </p:nvSpPr>
        <p:spPr>
          <a:xfrm>
            <a:off x="8229600" y="1828800"/>
            <a:ext cx="3246120" cy="2514600"/>
          </a:xfrm>
          <a:prstGeom prst="roundRect">
            <a:avLst/>
          </a:prstGeom>
          <a:solidFill>
            <a:srgbClr val="F8F9FA"/>
          </a:solidFill>
          <a:ln>
            <a:solidFill>
              <a:srgbClr val="1A5F7A"/>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2100" b="1">
                <a:solidFill>
                  <a:srgbClr val="1A5F7A"/>
                </a:solidFill>
              </a:defRPr>
            </a:pPr>
            <a:r>
              <a:t>AI will not build the terminal by itself, but it can help project teams advise owners more effectively.</a:t>
            </a:r>
          </a:p>
        </p:txBody>
      </p:sp>
      <p:sp>
        <p:nvSpPr>
          <p:cNvPr id="6" name="TextBox 5"/>
          <p:cNvSpPr txBox="1"/>
          <p:nvPr/>
        </p:nvSpPr>
        <p:spPr>
          <a:xfrm>
            <a:off x="502920" y="6446520"/>
            <a:ext cx="11155680" cy="228600"/>
          </a:xfrm>
          <a:prstGeom prst="rect">
            <a:avLst/>
          </a:prstGeom>
          <a:noFill/>
        </p:spPr>
        <p:txBody>
          <a:bodyPr wrap="none">
            <a:spAutoFit/>
          </a:bodyPr>
          <a:lstStyle/>
          <a:p>
            <a:pPr algn="r">
              <a:defRPr sz="900">
                <a:solidFill>
                  <a:srgbClr val="636E72"/>
                </a:solidFill>
              </a:defRPr>
            </a:pPr>
            <a:r>
              <a:t>CMET 6000 • AI in Construction and Facilities Management •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